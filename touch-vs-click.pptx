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Touch vs Click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Short deck • Diagrams + live demo: demo/index.html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>
                <a:latin typeface="Calibri"/>
              </a:defRPr>
            </a:pPr>
            <a:r>
              <a:t>One DOM event: click.</a:t>
            </a:r>
          </a:p>
          <a:p>
            <a:pPr>
              <a:defRPr sz="2200">
                <a:latin typeface="Calibri"/>
              </a:defRPr>
            </a:pPr>
            <a:r>
              <a:t>Fires when the browser treats a press-and-release as “activate this” (mouse, and often after a tap on phones).</a:t>
            </a:r>
          </a:p>
          <a:p>
            <a:pPr>
              <a:defRPr sz="2200">
                <a:latin typeface="Calibri"/>
              </a:defRPr>
            </a:pPr>
            <a:r>
              <a:t>Good when you only need that single moment — like pressing a doorbell once.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— what “click” means</a:t>
            </a:r>
          </a:p>
        </p:txBody>
      </p:sp>
      <p:pic>
        <p:nvPicPr>
          <p:cNvPr id="3" name="Picture 2" descr="diagram_cl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10972800" cy="5047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4476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latin typeface="Calibri"/>
              </a:defRPr>
            </a:pPr>
            <a:r>
              <a:t>One event name in your code; browser merges mouse or tap into this signal when appropriate.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Touch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>
                <a:latin typeface="Calibri"/>
              </a:defRPr>
            </a:pPr>
            <a:r>
              <a:t>Several DOM events: touchstart → touchmove (many times) → touchend or touchcancel.</a:t>
            </a:r>
          </a:p>
          <a:p>
            <a:pPr>
              <a:defRPr sz="2200">
                <a:latin typeface="Calibri"/>
              </a:defRPr>
            </a:pPr>
            <a:r>
              <a:t>Describes the whole finger movement until it ends — a timeline, not one beep.</a:t>
            </a:r>
          </a:p>
          <a:p>
            <a:pPr>
              <a:defRPr sz="2200">
                <a:latin typeface="Calibri"/>
              </a:defRPr>
            </a:pPr>
            <a:r>
              <a:t>Good when you care where the finger is while it moves (drag, draw, swipe).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— touch event timeline</a:t>
            </a:r>
          </a:p>
        </p:txBody>
      </p:sp>
      <p:pic>
        <p:nvPicPr>
          <p:cNvPr id="3" name="Picture 2" descr="diagram_touch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10972800" cy="51572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4476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latin typeface="Calibri"/>
              </a:defRPr>
            </a:pPr>
            <a:r>
              <a:t>Gray box = optional; touchcancel happens when the browser gives up on tracking (e.g. scroll).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Side by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100">
                <a:latin typeface="Calibri"/>
              </a:defRPr>
            </a:pPr>
            <a:r>
              <a:t>Touch = long story of the finger. Click = short “that counted as a button press” at the end (often).</a:t>
            </a:r>
          </a:p>
          <a:p>
            <a:pPr>
              <a:defRPr sz="2100">
                <a:latin typeface="Calibri"/>
              </a:defRPr>
            </a:pPr>
            <a:r>
              <a:t>One tap on a phone can produce touch events first, then a click — same gesture, different layers.</a:t>
            </a:r>
          </a:p>
          <a:p>
            <a:pPr>
              <a:defRPr sz="2100">
                <a:latin typeface="Calibri"/>
              </a:defRPr>
            </a:pPr>
            <a:r>
              <a:t>Do not run the same important logic twice on both touchend and click unless you guard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— one tap, two layers</a:t>
            </a:r>
          </a:p>
        </p:txBody>
      </p:sp>
      <p:pic>
        <p:nvPicPr>
          <p:cNvPr id="3" name="Picture 2" descr="diagram_compa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10972800" cy="44988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44768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latin typeface="Calibri"/>
              </a:defRPr>
            </a:pPr>
            <a:r>
              <a:t>Same physical tap: first the touch timeline, then sometimes a click — not two separate user 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 event API names (addEventListener)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900" b="1">
                <a:latin typeface="Calibri"/>
              </a:defRPr>
            </a:pPr>
            <a:r>
              <a:t>Touch — finger timeline</a:t>
            </a:r>
          </a:p>
          <a:p>
            <a:pPr lvl="1">
              <a:defRPr sz="1700">
                <a:latin typeface="Consolas"/>
              </a:defRPr>
            </a:pPr>
            <a:r>
              <a:t>touchstart</a:t>
            </a:r>
          </a:p>
          <a:p>
            <a:pPr lvl="1">
              <a:defRPr sz="1700">
                <a:latin typeface="Consolas"/>
              </a:defRPr>
            </a:pPr>
            <a:r>
              <a:t>touchmove</a:t>
            </a:r>
          </a:p>
          <a:p>
            <a:pPr lvl="1">
              <a:defRPr sz="1700">
                <a:latin typeface="Consolas"/>
              </a:defRPr>
            </a:pPr>
            <a:r>
              <a:t>touchend</a:t>
            </a:r>
          </a:p>
          <a:p>
            <a:pPr lvl="1">
              <a:defRPr sz="1700">
                <a:latin typeface="Consolas"/>
              </a:defRPr>
            </a:pPr>
            <a:r>
              <a:t>touchcancel</a:t>
            </a:r>
          </a:p>
          <a:p>
            <a:pPr>
              <a:defRPr sz="1900" b="1">
                <a:latin typeface="Calibri"/>
              </a:defRPr>
            </a:pPr>
            <a:r>
              <a:t>Mouse — press / move / release (desktop; also compatibility on some taps)</a:t>
            </a:r>
          </a:p>
          <a:p>
            <a:pPr lvl="1">
              <a:defRPr sz="1700">
                <a:latin typeface="Consolas"/>
              </a:defRPr>
            </a:pPr>
            <a:r>
              <a:t>mousedown</a:t>
            </a:r>
          </a:p>
          <a:p>
            <a:pPr lvl="1">
              <a:defRPr sz="1700">
                <a:latin typeface="Consolas"/>
              </a:defRPr>
            </a:pPr>
            <a:r>
              <a:t>mouseup</a:t>
            </a:r>
          </a:p>
          <a:p>
            <a:pPr lvl="1">
              <a:defRPr sz="1700">
                <a:latin typeface="Consolas"/>
              </a:defRPr>
            </a:pPr>
            <a:r>
              <a:t>mousemove</a:t>
            </a:r>
          </a:p>
          <a:p>
            <a:pPr lvl="1">
              <a:defRPr sz="1700">
                <a:latin typeface="Consolas"/>
              </a:defRPr>
            </a:pPr>
            <a:r>
              <a:t>mouseenter</a:t>
            </a:r>
          </a:p>
          <a:p>
            <a:pPr lvl="1">
              <a:defRPr sz="1700">
                <a:latin typeface="Consolas"/>
              </a:defRPr>
            </a:pPr>
            <a:r>
              <a:t>mouseleave</a:t>
            </a:r>
          </a:p>
          <a:p>
            <a:pPr lvl="1">
              <a:defRPr sz="1700">
                <a:latin typeface="Consolas"/>
              </a:defRPr>
            </a:pPr>
            <a:r>
              <a:t>mouseover</a:t>
            </a:r>
          </a:p>
          <a:p>
            <a:pPr lvl="1">
              <a:defRPr sz="1700">
                <a:latin typeface="Consolas"/>
              </a:defRPr>
            </a:pPr>
            <a:r>
              <a:t>mouseout</a:t>
            </a:r>
          </a:p>
          <a:p>
            <a:pPr>
              <a:defRPr sz="1900" b="1">
                <a:latin typeface="Calibri"/>
              </a:defRPr>
            </a:pPr>
            <a:r>
              <a:t>Click / activation (short signal)</a:t>
            </a:r>
          </a:p>
          <a:p>
            <a:pPr lvl="1">
              <a:defRPr sz="1700">
                <a:latin typeface="Consolas"/>
              </a:defRPr>
            </a:pPr>
            <a:r>
              <a:t>click</a:t>
            </a:r>
          </a:p>
          <a:p>
            <a:pPr lvl="1">
              <a:defRPr sz="1700">
                <a:latin typeface="Consolas"/>
              </a:defRPr>
            </a:pPr>
            <a:r>
              <a:t>dblclick</a:t>
            </a:r>
          </a:p>
          <a:p>
            <a:pPr lvl="1">
              <a:defRPr sz="1700">
                <a:latin typeface="Consolas"/>
              </a:defRPr>
            </a:pPr>
            <a:r>
              <a:t>auxclick</a:t>
            </a:r>
          </a:p>
          <a:p>
            <a:pPr lvl="1">
              <a:defRPr sz="1700">
                <a:latin typeface="Consolas"/>
              </a:defRPr>
            </a:pPr>
            <a:r>
              <a:t>contextmenu</a:t>
            </a:r>
          </a:p>
          <a:p>
            <a:pPr>
              <a:defRPr sz="1900" b="1">
                <a:latin typeface="Calibri"/>
              </a:defRPr>
            </a:pPr>
            <a:r>
              <a:t>Pointer Events — one model for mouse + touch + pen (common for drags)</a:t>
            </a:r>
          </a:p>
          <a:p>
            <a:pPr lvl="1">
              <a:defRPr sz="1700">
                <a:latin typeface="Consolas"/>
              </a:defRPr>
            </a:pPr>
            <a:r>
              <a:t>pointerdown</a:t>
            </a:r>
          </a:p>
          <a:p>
            <a:pPr lvl="1">
              <a:defRPr sz="1700">
                <a:latin typeface="Consolas"/>
              </a:defRPr>
            </a:pPr>
            <a:r>
              <a:t>pointermove</a:t>
            </a:r>
          </a:p>
          <a:p>
            <a:pPr lvl="1">
              <a:defRPr sz="1700">
                <a:latin typeface="Consolas"/>
              </a:defRPr>
            </a:pPr>
            <a:r>
              <a:t>pointerup</a:t>
            </a:r>
          </a:p>
          <a:p>
            <a:pPr lvl="1">
              <a:defRPr sz="1700">
                <a:latin typeface="Consolas"/>
              </a:defRPr>
            </a:pPr>
            <a:r>
              <a:t>pointercancel</a:t>
            </a:r>
          </a:p>
          <a:p>
            <a:pPr lvl="1">
              <a:defRPr sz="1700">
                <a:latin typeface="Consolas"/>
              </a:defRPr>
            </a:pPr>
            <a:r>
              <a:t>gotpointercapture</a:t>
            </a:r>
          </a:p>
          <a:p>
            <a:pPr lvl="1">
              <a:defRPr sz="1700">
                <a:latin typeface="Consolas"/>
              </a:defRPr>
            </a:pPr>
            <a:r>
              <a:t>lostpointercapture</a:t>
            </a:r>
          </a:p>
          <a:p>
            <a:pPr>
              <a:defRPr sz="1500" i="1">
                <a:latin typeface="Calibri"/>
              </a:defRPr>
            </a:pPr>
            <a:r>
              <a:t>One physical tap can emit events from more than one family — the live demo log shows that.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 apps — use click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latin typeface="Calibri"/>
              </a:defRPr>
            </a:pPr>
            <a:r>
              <a:t>Submit, OK, open dialog, follow link, toggle menu on a &lt;button&gt;.</a:t>
            </a:r>
          </a:p>
          <a:p>
            <a:pPr>
              <a:defRPr sz="2400">
                <a:latin typeface="Calibri"/>
              </a:defRPr>
            </a:pPr>
            <a:r>
              <a:t>Anything that should also work with keyboard (Space/Enter) on native buttons.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 apps — use touch (or Pointer Events)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>
                <a:latin typeface="Calibri"/>
              </a:defRPr>
            </a:pPr>
            <a:r>
              <a:t>Slider thumb, map drag, sortable row drag, signature pad, game control.</a:t>
            </a:r>
          </a:p>
          <a:p>
            <a:pPr>
              <a:defRPr sz="2200">
                <a:latin typeface="Calibri"/>
              </a:defRPr>
            </a:pPr>
            <a:r>
              <a:t>Custom gestures (swipe distance, long-press) where you read many move points.</a:t>
            </a:r>
          </a:p>
          <a:p>
            <a:pPr>
              <a:defRPr sz="2200">
                <a:latin typeface="Calibri"/>
              </a:defRPr>
            </a:pPr>
            <a:r>
              <a:t>New code: Pointer Events often replace separate mouse + touch handlers for drags.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>
                <a:latin typeface="Calibri"/>
              </a:defRPr>
            </a:pPr>
            <a:r>
              <a:t>Open demo/index.html (+ demo.js, demo.css). [1 tap] = button; [2 drag] = same TAP_EVENT_TYPES on one draggable thumb — compare quick tap vs drag.</a:t>
            </a:r>
          </a:p>
          <a:p>
            <a:pPr>
              <a:defRPr sz="2200">
                <a:latin typeface="Calibri"/>
              </a:defRPr>
            </a:pPr>
            <a:r>
              <a:t>pointermove / touchmove are not in TAP_EVENT_TYPES and are not logged separately.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